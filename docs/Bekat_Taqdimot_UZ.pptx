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Kirish" id="{1f96b56e-d608-6ad7-4df9-02ef4fe5db8d}">
          <p14:sldIdLst>
            <p14:sldId id="256"/>
          </p14:sldIdLst>
        </p14:section>
        <p14:section name="Muammo" id="{fa3a0cd1-c38e-0832-6648-c74dccd1e241}">
          <p14:sldIdLst>
            <p14:sldId id="257"/>
            <p14:sldId id="258"/>
          </p14:sldIdLst>
        </p14:section>
        <p14:section name="Yechim" id="{4132cf89-8b62-fb69-b0da-03b05c241b6b}">
          <p14:sldIdLst>
            <p14:sldId id="259"/>
            <p14:sldId id="260"/>
            <p14:sldId id="261"/>
            <p14:sldId id="262"/>
          </p14:sldIdLst>
        </p14:section>
        <p14:section name="Texnologiya" id="{39cd863a-3e19-adc6-1df3-43a055f73f31}">
          <p14:sldIdLst>
            <p14:sldId id="263"/>
          </p14:sldIdLst>
        </p14:section>
        <p14:section name="Bozor" id="{4adf03d9-e125-4883-e6b3-ec1a474e28b6}">
          <p14:sldIdLst>
            <p14:sldId id="264"/>
            <p14:sldId id="265"/>
          </p14:sldIdLst>
        </p14:section>
        <p14:section name="Reja" id="{d1440bd3-17bc-2537-d7d4-09bd53fc9779}">
          <p14:sldIdLst>
            <p14:sldId id="266"/>
            <p14:sldId id="267"/>
            <p14:sldId id="268"/>
          </p14:sldIdLst>
        </p14:section>
        <p14:section name="Yakun" id="{e7d7b589-1614-82b5-2c1f-8add662207e2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mln so‘m</c:v>
                </c:pt>
              </c:strCache>
            </c:strRef>
          </c:tx>
          <c:spPr>
            <a:solidFill>
              <a:srgbClr val="2D6BF0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517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Mobil ilova (Flutter)</c:v>
                  </c:pt>
                  <c:pt idx="1">
                    <c:v>Dala tadqiqoti (GPS)</c:v>
                  </c:pt>
                  <c:pt idx="2">
                    <c:v>Algoritm (RAPTOR) &amp; backend</c:v>
                  </c:pt>
                  <c:pt idx="3">
                    <c:v>3D dizayn va metro sxemasi</c:v>
                  </c:pt>
                  <c:pt idx="4">
                    <c:v>Server va xarita xizmatlari</c:v>
                  </c:pt>
                  <c:pt idx="5">
                    <c:v>Pilot sinov (100+)</c:v>
                  </c:pt>
                  <c:pt idx="6">
                    <c:v>Do‘kon akkauntlari</c:v>
                  </c:pt>
                  <c:pt idx="7">
                    <c:v>EHM guvohnomasi va zaxira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10</c:v>
                </c:pt>
                <c:pt idx="1">
                  <c:v>8</c:v>
                </c:pt>
                <c:pt idx="2">
                  <c:v>8</c:v>
                </c:pt>
                <c:pt idx="3">
                  <c:v>3.5</c:v>
                </c:pt>
                <c:pt idx="4">
                  <c:v>3</c:v>
                </c:pt>
                <c:pt idx="5">
                  <c:v>3</c:v>
                </c:pt>
                <c:pt idx="6">
                  <c:v>2.5</c:v>
                </c:pt>
                <c:pt idx="7">
                  <c:v>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517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27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Assalomu alaykum. Loyihamiz — Bekat: Namangan shahri avtobuslari uchun aqlli marshrut xaritasi.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Namanganda jamoat transporti tez yangilanmoqda, lekin yo‘lovchi uchun eng oddiy savolga javob beradigan sodda vosita yo‘q.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KAT_LIGH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270"/>
                </a:solidFill>
              </a:rPr>
              <a:t>Bekat · Qodirov Ulug‘bek, Zamalitdinov Salimbek · NamDTU ·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KAT_WHIT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77316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270"/>
                </a:solidFill>
              </a:rPr>
              <a:t>Bekat · Qodirov Ulug‘bek, Zamalitdinov Salimbek · NamDTU ·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EKAT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9AA1AE"/>
                </a:solidFill>
              </a:rPr>
              <a:t>“ENG YAXSHI KREATIV G‘OYA” RESPUBLIKA TANLOVI · 2026</a:t>
            </a:r>
            <a:endParaRPr lang="en-US" sz="1000" dirty="0"/>
          </a:p>
        </p:txBody>
      </p:sp>
      <p:sp>
        <p:nvSpPr>
          <p:cNvPr id="3" name="title"/>
          <p:cNvSpPr txBox="1"/>
          <p:nvPr/>
        </p:nvSpPr>
        <p:spPr>
          <a:xfrm>
            <a:off x="548640" y="1097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bg1"/>
                </a:solidFill>
              </a:rPr>
              <a:t>Bekat</a:t>
            </a:r>
            <a:endParaRPr lang="en-US" sz="7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4028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D6DAE2"/>
                </a:solidFill>
              </a:rPr>
              <a:t>Namangan avtobuslari uchun aqlli marshrut xaritasi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69264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69264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389888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89888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810512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10512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31136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231136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651760" y="324612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651760" y="32461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251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1AE"/>
                </a:solidFill>
              </a:rPr>
              <a:t>Qodirov Ulug‘bek, Zamalitdinov Salimbek · NamDTU, 37-ATT guruhi (4-kurs)</a:t>
            </a:r>
            <a:endParaRPr lang="en-US" sz="1200" dirty="0"/>
          </a:p>
        </p:txBody>
      </p:sp>
      <p:pic>
        <p:nvPicPr>
          <p:cNvPr id="18" name="bus" descr="/home/yourngserber/AndroidStudioProjects/MyApplication/Bekat/docs/assets/b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2880360"/>
            <a:ext cx="2240280" cy="1865376"/>
          </a:xfrm>
          <a:prstGeom prst="rect">
            <a:avLst/>
          </a:prstGeom>
        </p:spPr>
      </p:pic>
      <p:pic>
        <p:nvPicPr>
          <p:cNvPr id="19" name="phone" descr="/home/yourngserber/AndroidStudioProjects/MyApplication/Bekat/docs/assets/phone_02_home_u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274320"/>
            <a:ext cx="2194560" cy="421538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MUAMMO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“Qaysi avtobus? Qayerda almashaman?”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Shaharda yangi avtobuslar ko‘paymoqda, yo‘nalishlar qayta tuzilmoqda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Manzilga to‘g‘ridan-to‘g‘ri avtobus bo‘lmasa, odamlar taksiga o‘tadi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Almashinuvli yo‘lni sodda ko‘rsatadigan vosita yo‘q</a:t>
            </a:r>
            <a:endParaRPr lang="en-US" sz="1600" dirty="0"/>
          </a:p>
        </p:txBody>
      </p:sp>
      <p:pic>
        <p:nvPicPr>
          <p:cNvPr id="7" name="city map" descr="/home/yourngserber/AndroidStudioProjects/MyApplication/Bekat/docs/assets/map_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1554480"/>
            <a:ext cx="3840480" cy="23957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074920" y="3611880"/>
            <a:ext cx="3200400" cy="566928"/>
          </a:xfrm>
          <a:prstGeom prst="roundRect">
            <a:avLst>
              <a:gd name="adj" fmla="val 29032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01600" dist="38100" dir="5400000">
              <a:srgbClr val="1B2440">
                <a:alpha val="25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5074920" y="3611880"/>
            <a:ext cx="320040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Chorsudan Yuksalishga qanday boraman?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RAQAMLAR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Tarmoq o‘smoqda — ma’lumot esa yo‘q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731,3 ming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Namangan shahri aholisi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6060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7706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130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27706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zamonaviy avtobus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6634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280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10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48280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brutto-shartnomali yo‘nalish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720840" y="1691640"/>
            <a:ext cx="1874520" cy="2011680"/>
          </a:xfrm>
          <a:prstGeom prst="roundRect">
            <a:avLst>
              <a:gd name="adj" fmla="val 97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85432" y="187452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7CE0A3"/>
                </a:solidFill>
              </a:rPr>
              <a:t>0</a:t>
            </a:r>
            <a:endParaRPr lang="en-US" sz="4400" dirty="0"/>
          </a:p>
        </p:txBody>
      </p:sp>
      <p:sp>
        <p:nvSpPr>
          <p:cNvPr id="17" name="Text 15"/>
          <p:cNvSpPr txBox="1"/>
          <p:nvPr/>
        </p:nvSpPr>
        <p:spPr>
          <a:xfrm>
            <a:off x="6885432" y="278892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6DAE2"/>
                </a:solidFill>
              </a:rPr>
              <a:t>yo‘nalish ochiq xaritada (OSM)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069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270"/>
                </a:solidFill>
              </a:rPr>
              <a:t>Manbalar: namstat.uz (01.04.2026), yuz.uz (03.10.2026), gazeta.uz (24.09.2026), OpenStreetMap so‘rovi (14.10.2026)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YECHIM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Manzilni tanlang — yo‘lni ko‘ring</a:t>
            </a:r>
            <a:endParaRPr lang="en-US" sz="2800" dirty="0"/>
          </a:p>
        </p:txBody>
      </p:sp>
      <p:pic>
        <p:nvPicPr>
          <p:cNvPr id="6" name="phone 02_home" descr="/home/yourngserber/AndroidStudioProjects/MyApplication/Bekat/docs/assets/phone_02_home_u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463040"/>
            <a:ext cx="1517904" cy="29169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258568" y="25146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Xarita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3D shahar, jonli avtobuslar</a:t>
            </a:r>
            <a:endParaRPr lang="en-US" sz="1500" dirty="0"/>
          </a:p>
        </p:txBody>
      </p:sp>
      <p:pic>
        <p:nvPicPr>
          <p:cNvPr id="8" name="phone 05_plan" descr="/home/yourngserber/AndroidStudioProjects/MyApplication/Bekat/docs/assets/phone_05_plan_u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4720" y="1463040"/>
            <a:ext cx="1517904" cy="29169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47488" y="25146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Variantlar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avtobus + almashinuv + piyoda</a:t>
            </a:r>
            <a:endParaRPr lang="en-US" sz="1500" dirty="0"/>
          </a:p>
        </p:txBody>
      </p:sp>
      <p:pic>
        <p:nvPicPr>
          <p:cNvPr id="10" name="phone 06_trip" descr="/home/yourngserber/AndroidStudioProjects/MyApplication/Bekat/docs/assets/phone_06_trip_uz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63040"/>
            <a:ext cx="1517904" cy="2916936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836408" y="251460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Yo‘lda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qolgan bekatlar va vaqt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ASOSIY G‘OYA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To‘g‘ri avtobus bo‘lmasa ham — yo‘l bor</a:t>
            </a:r>
            <a:endParaRPr lang="en-US" sz="2800" dirty="0"/>
          </a:p>
        </p:txBody>
      </p:sp>
      <p:pic>
        <p:nvPicPr>
          <p:cNvPr id="6" name="Image 0" descr="/home/yourngserber/AndroidStudioProjects/MyApplication/Bekat/docs/assets/phone_05_plan_u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417320"/>
            <a:ext cx="1600200" cy="307238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0" y="1645920"/>
            <a:ext cx="384048" cy="384048"/>
          </a:xfrm>
          <a:prstGeom prst="ellipse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0" y="1645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291840" y="160020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Almashinuv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Bir nechta avtobusni birlashtiradi: №9 bilan vokzalgacha, so‘ng №7 ga o‘tiladi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2743200" y="2606040"/>
            <a:ext cx="384048" cy="384048"/>
          </a:xfrm>
          <a:prstGeom prst="ellipse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74320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291840" y="256032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Eng yaqin nuqta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Avtobus bormaydigan joyga ham eng yaqin bekatgacha olib boradi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2743200" y="3566160"/>
            <a:ext cx="384048" cy="384048"/>
          </a:xfrm>
          <a:prstGeom prst="ellipse">
            <a:avLst/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743200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291840" y="352044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Tez va oflayn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RAPTOR algoritmi telefon ichida, 1 soniyadan kam vaqtda hisoblaydi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METRO USLUBIDAGI SXEMA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Butun tarmoq — bitta sxemada</a:t>
            </a:r>
            <a:endParaRPr lang="en-US" sz="2800" dirty="0"/>
          </a:p>
        </p:txBody>
      </p:sp>
      <p:pic>
        <p:nvPicPr>
          <p:cNvPr id="6" name="scheme" descr="/home/yourngserber/AndroidStudioProjects/MyApplication/Bekat/docs/assets/scheme_uz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681728" cy="32004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806440" y="148132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06440" y="1481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236208" y="142646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Otchopar – Taxtako‘prik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22A55B"/>
                </a:solidFill>
              </a:rPr>
              <a:t>tasdiqlangan yo‘nalish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806440" y="1956816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1E6FE8"/>
          </a:solidFill>
          <a:ln w="12700">
            <a:solidFill>
              <a:srgbClr val="1E6FE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806440" y="19568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6236208" y="1901952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Otchopar – Chorsu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22A55B"/>
                </a:solidFill>
              </a:rPr>
              <a:t>tasdiqlangan yo‘nalish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806440" y="2432304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806440" y="243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236208" y="23774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Yuksalish – Chorsu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22A55B"/>
                </a:solidFill>
              </a:rPr>
              <a:t>tasdiqlangan yo‘nalish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806440" y="2907792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806440" y="29077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236208" y="2852928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Aeroport – Lola bozori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9AA1AE"/>
                </a:solidFill>
              </a:rPr>
              <a:t>namuna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806440" y="3383280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806440" y="33832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7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6236208" y="3328416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Gulbog‘ – Temir yo‘l vokzali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9AA1AE"/>
                </a:solidFill>
              </a:rPr>
              <a:t>namuna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806440" y="385876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806440" y="3858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9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6236208" y="3803904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71C"/>
                </a:solidFill>
              </a:rPr>
              <a:t>Yangi Namangan – Viloyat bolalar kasalxonasi</a:t>
            </a:r>
            <a:endParaRPr lang="en-US" sz="1150" dirty="0"/>
          </a:p>
          <a:p>
            <a:pPr indent="0" marL="0">
              <a:buNone/>
            </a:pPr>
            <a:r>
              <a:rPr lang="en-US" sz="950" dirty="0">
                <a:solidFill>
                  <a:srgbClr val="9AA1AE"/>
                </a:solidFill>
              </a:rPr>
              <a:t>namuna</a:t>
            </a:r>
            <a:endParaRPr lang="en-US" sz="1150" dirty="0"/>
          </a:p>
        </p:txBody>
      </p:sp>
      <p:sp>
        <p:nvSpPr>
          <p:cNvPr id="25" name="Text 22"/>
          <p:cNvSpPr txBox="1"/>
          <p:nvPr/>
        </p:nvSpPr>
        <p:spPr>
          <a:xfrm>
            <a:off x="5806440" y="43708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270"/>
                </a:solidFill>
              </a:rPr>
              <a:t>Oraliq bekatlar — dala tadqiqotigacha namuna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7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3D JONLI XARITA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Shahar xuddi o‘yindagidek</a:t>
            </a:r>
            <a:endParaRPr lang="en-US" sz="2800" dirty="0"/>
          </a:p>
        </p:txBody>
      </p:sp>
      <p:pic>
        <p:nvPicPr>
          <p:cNvPr id="6" name="Image 0" descr="/home/yourngserber/AndroidStudioProjects/MyApplication/Bekat/docs/assets/map_cen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06240" y="1417320"/>
            <a:ext cx="4389120" cy="27432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1554480"/>
            <a:ext cx="3474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Avtobuslar xaritada harakatlanadi (qatnov jadvali asosida)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Har bir bekatda — keyingi avtobusgacha necha daqiqa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Kam matn, katta tugmalar: keksalar ham, bolalar ham tushunadi</a:t>
            </a:r>
            <a:endParaRPr lang="en-US" sz="14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</a:rPr>
              <a:t>O‘zbek, rus, ingliz tillari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8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TEXNOLOGIYA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Qanday ishlaydi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Ma’lumot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Bekatlar va yo‘nalishlar GPS bilan yig‘iladi (GTFS format)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395728" y="2606040"/>
            <a:ext cx="192024" cy="0"/>
          </a:xfrm>
          <a:prstGeom prst="line">
            <a:avLst/>
          </a:prstGeom>
          <a:noFill/>
          <a:ln w="19050">
            <a:solidFill>
              <a:srgbClr val="9AA1AE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6060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889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7889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Telefonda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Marshrut algoritmi va jadval — internetsiz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53128" y="2606040"/>
            <a:ext cx="192024" cy="0"/>
          </a:xfrm>
          <a:prstGeom prst="line">
            <a:avLst/>
          </a:prstGeom>
          <a:noFill/>
          <a:ln w="19050">
            <a:solidFill>
              <a:srgbClr val="9AA1AE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6634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463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A55B"/>
          </a:solidFill>
          <a:ln w="12700">
            <a:solidFill>
              <a:srgbClr val="22A55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463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Xarita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MapLibre + OpenStreetMap, 3D binolar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6510528" y="2606040"/>
            <a:ext cx="192024" cy="0"/>
          </a:xfrm>
          <a:prstGeom prst="line">
            <a:avLst/>
          </a:prstGeom>
          <a:noFill/>
          <a:ln w="19050">
            <a:solidFill>
              <a:srgbClr val="9AA1AE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6720840" y="1691640"/>
            <a:ext cx="1828800" cy="1828800"/>
          </a:xfrm>
          <a:prstGeom prst="roundRect">
            <a:avLst>
              <a:gd name="adj" fmla="val 9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03720" y="187452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03720" y="2304288"/>
            <a:ext cx="1508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Shahar uchun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5B6270"/>
                </a:solidFill>
              </a:rPr>
              <a:t>Anonim “talab xaritasi” hokimlikka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8001000" cy="502920"/>
          </a:xfrm>
          <a:prstGeom prst="roundRect">
            <a:avLst>
              <a:gd name="adj" fmla="val 27273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3840480"/>
            <a:ext cx="8001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Flutter: Android · iOS · Web — bitta kod bazasi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9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ANALOGLAR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Bekatning farqi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804672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645920"/>
                <a:gridCol w="2103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Yandex Xaritalar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OSM ilovalari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Bekat</a:t>
                      </a:r>
                      <a:endParaRPr lang="en-US" sz="120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6BF0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Namanganda jonli avtobus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Bor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Yo‘q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Jadval asosida; GPS — 2-bosqich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Butun tarmoq sxemasi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Yo‘q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Yo‘q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Bor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“Eng yaqin nuqta” rejimi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—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Bor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Shahar uchun talab tahlili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Yo‘q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Yo‘q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Bor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Namangan yo‘nalishlari bazasi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Yopiq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270"/>
                          </a:solidFill>
                        </a:rPr>
                        <a:t>0 yo‘nalish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5171C"/>
                          </a:solidFill>
                        </a:rPr>
                        <a:t>Ochiq, yangilanadi</a:t>
                      </a:r>
                      <a:endParaRPr lang="en-US" sz="1150" dirty="0"/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EFE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BIZNES MODEL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Aholiga bepul — shaharga foydali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2542032" cy="210312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4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8745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Aholi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Ilova bepul. Reklama faqat bekatlar atrofidagi mahalliy biznesdan.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273552" y="1645920"/>
            <a:ext cx="2542032" cy="2103120"/>
          </a:xfrm>
          <a:prstGeom prst="roundRect">
            <a:avLst>
              <a:gd name="adj" fmla="val 869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4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02152" y="18745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Hokimlik va transport boshqarmasi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D6DAE2"/>
                </a:solidFill>
              </a:rPr>
              <a:t>Yillik B2G obuna: talab xaritasi, yo‘nalish o‘zgarishlari haqida xabar berish.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998464" y="1645920"/>
            <a:ext cx="2542032" cy="2103120"/>
          </a:xfrm>
          <a:prstGeom prst="roundRect">
            <a:avLst>
              <a:gd name="adj" fmla="val 8696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  <a:effectLst>
            <a:outerShdw sx="100000" sy="100000" kx="0" ky="0" algn="bl" rotWithShape="0" blurRad="127000" dist="50800" dir="5400000">
              <a:srgbClr val="1B244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227064" y="1874520"/>
            <a:ext cx="21031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Tashuvchilar</a:t>
            </a:r>
            <a:endParaRPr lang="en-US" sz="16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Ko‘proq yo‘lovchi; GPS ma’lumotlarini ulash orqali hamkorlik.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11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REJA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 oyda: prototipdan pilotgacha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7406640" cy="0"/>
          </a:xfrm>
          <a:prstGeom prst="line">
            <a:avLst/>
          </a:prstGeom>
          <a:noFill/>
          <a:ln w="76200">
            <a:solidFill>
              <a:srgbClr val="22A55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13232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28600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1–3 hafta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10312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Barcha yo‘nalishlar va bekatlarni GPS bilan yig‘ish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194560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709928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3–5 hafta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Ilova karkasi, qidiruv, 3 til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75888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191256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6–7 hafta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172968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Almashinuvli marshrut, oflayn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157216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72584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8 hafta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4654296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Sxema, 3D, reliz (APK + veb)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38544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5171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153912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9–12 hafta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135624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100+ foydalanuvchi bilan pilot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19872" y="2176272"/>
            <a:ext cx="310896" cy="31089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9AA1A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635240" y="169164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Keyin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616952" y="2651760"/>
            <a:ext cx="13167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6270"/>
                </a:solidFill>
              </a:rPr>
              <a:t>Real vaqt GPS, Andijon, Farg‘ona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12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SMETA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40 mln so‘m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716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270"/>
                </a:solidFill>
              </a:rPr>
              <a:t>1-bosqich (startap): mobil ilova, dala tadqiqoti va pilot sinov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737360"/>
          <a:ext cx="804672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dge"/>
          <p:cNvSpPr/>
          <p:nvPr/>
        </p:nvSpPr>
        <p:spPr>
          <a:xfrm>
            <a:off x="548640" y="384048"/>
            <a:ext cx="329184" cy="329184"/>
          </a:xfrm>
          <a:prstGeom prst="roundRect">
            <a:avLst>
              <a:gd name="adj" fmla="val 27778"/>
            </a:avLst>
          </a:prstGeom>
          <a:solidFill>
            <a:srgbClr val="2D6BF0"/>
          </a:solidFill>
          <a:ln w="12700">
            <a:solidFill>
              <a:srgbClr val="2D6BF0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13</a:t>
            </a:r>
            <a:endParaRPr lang="en-US" sz="1300" dirty="0"/>
          </a:p>
        </p:txBody>
      </p:sp>
      <p:sp>
        <p:nvSpPr>
          <p:cNvPr id="4" name="kicker"/>
          <p:cNvSpPr txBox="1"/>
          <p:nvPr/>
        </p:nvSpPr>
        <p:spPr>
          <a:xfrm>
            <a:off x="987552" y="384048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B6270"/>
                </a:solidFill>
              </a:rPr>
              <a:t>HOLAT VA KPI</a:t>
            </a:r>
            <a:endParaRPr lang="en-US" sz="1050" dirty="0"/>
          </a:p>
        </p:txBody>
      </p:sp>
      <p:sp>
        <p:nvSpPr>
          <p:cNvPr id="5" name="title"/>
          <p:cNvSpPr txBox="1"/>
          <p:nvPr/>
        </p:nvSpPr>
        <p:spPr>
          <a:xfrm>
            <a:off x="548640" y="786384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Prototip allaqachon ishlaydi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00200"/>
            <a:ext cx="38404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Ishlaydigan ilova: Android, iOS, veb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6 yo‘nalish, 36 bekat, 69 joy qidiruvda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Almashinuvli marshrut va metro sxemasi</a:t>
            </a:r>
            <a:endParaRPr lang="en-US" sz="14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✓  Avtomatik testlar: 7 / 7 o‘tdi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663440" y="155448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645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100%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shahar yo‘nalishlari raqamlashtiriladi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6675120" y="155448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12280" y="16459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&lt; 1 s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marshrut hisoblash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663440" y="278892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28803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100+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faol pilot foydalanuvchi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6675120" y="2788920"/>
            <a:ext cx="1874520" cy="1097280"/>
          </a:xfrm>
          <a:prstGeom prst="roundRect">
            <a:avLst>
              <a:gd name="adj" fmla="val 13333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12280" y="28803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D6BF0"/>
                </a:solidFill>
              </a:rPr>
              <a:t>80%+</a:t>
            </a:r>
            <a:endParaRPr lang="en-US" sz="2400" dirty="0"/>
          </a:p>
          <a:p>
            <a:pPr indent="0" marL="0">
              <a:buNone/>
            </a:pPr>
            <a:r>
              <a:rPr lang="en-US" sz="1100" dirty="0">
                <a:solidFill>
                  <a:srgbClr val="5B6270"/>
                </a:solidFill>
              </a:rPr>
              <a:t>“kerakli yo‘lni topdim”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40690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270"/>
                </a:solidFill>
              </a:rPr>
              <a:t>Maqsadli ko‘rsatkichlar — pilotdan keyin o‘lchanadi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36592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2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yourngserber/AndroidStudioProjects/MyApplication/Bekat/docs/assets/b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52160" y="640080"/>
            <a:ext cx="2743200" cy="2286000"/>
          </a:xfrm>
          <a:prstGeom prst="rect">
            <a:avLst/>
          </a:prstGeom>
        </p:spPr>
      </p:pic>
      <p:sp>
        <p:nvSpPr>
          <p:cNvPr id="3" name="title"/>
          <p:cNvSpPr txBox="1"/>
          <p:nvPr/>
        </p:nvSpPr>
        <p:spPr>
          <a:xfrm>
            <a:off x="548640" y="822960"/>
            <a:ext cx="53035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Bekat — Namangan bo‘ylab oson yo‘l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3317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6DAE2"/>
                </a:solidFill>
              </a:rPr>
              <a:t>Hamkorlarni taklif qilamiz: shahar hokimligi, viloyat transport boshqarmasi, avtobus tashuvchilari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Qodirov Ulug‘bek — muallif · Zamalitdinov Salimbek — hammuallif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9AA1AE"/>
                </a:solidFill>
              </a:rPr>
              <a:t>+998 90 555 80 91 · Dragonknight281101@gmail.com · github.com/SERBErGAME/Bekat</a:t>
            </a:r>
            <a:endParaRPr lang="en-US" sz="1500" dirty="0"/>
          </a:p>
        </p:txBody>
      </p:sp>
      <p:pic>
        <p:nvPicPr>
          <p:cNvPr id="6" name="Image 1" descr="/home/yourngserber/AndroidStudioProjects/MyApplication/Bekat/qr_bek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971800"/>
            <a:ext cx="1371600" cy="1371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5760720" y="440740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AA1AE"/>
                </a:solidFill>
              </a:rPr>
              <a:t>Skaner qiling — ilovani yuklang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kat">
  <a:themeElements>
    <a:clrScheme name="Bekat">
      <a:dk1>
        <a:srgbClr val="15171C"/>
      </a:dk1>
      <a:lt1>
        <a:srgbClr val="FFFFFF"/>
      </a:lt1>
      <a:dk2>
        <a:srgbClr val="1E2024"/>
      </a:dk2>
      <a:lt2>
        <a:srgbClr val="EEF1F6"/>
      </a:lt2>
      <a:accent1>
        <a:srgbClr val="2D6BF0"/>
      </a:accent1>
      <a:accent2>
        <a:srgbClr val="E53935"/>
      </a:accent2>
      <a:accent3>
        <a:srgbClr val="22A55B"/>
      </a:accent3>
      <a:accent4>
        <a:srgbClr val="F59E0B"/>
      </a:accent4>
      <a:accent5>
        <a:srgbClr val="8B5CF6"/>
      </a:accent5>
      <a:accent6>
        <a:srgbClr val="06B6D4"/>
      </a:accent6>
      <a:hlink>
        <a:srgbClr val="2D6BF0"/>
      </a:hlink>
      <a:folHlink>
        <a:srgbClr val="8B5CF6"/>
      </a:folHlink>
    </a:clrScheme>
    <a:fontScheme name="Beka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Bekat</dc:title>
  <dc:subject>PptxGenJS Presentation</dc:subject>
  <dc:creator>Rasulov Farruh</dc:creator>
  <cp:lastModifiedBy>Rasulov Farruh</cp:lastModifiedBy>
  <cp:revision>1</cp:revision>
  <dcterms:created xsi:type="dcterms:W3CDTF">2026-10-14T14:19:50Z</dcterms:created>
  <dcterms:modified xsi:type="dcterms:W3CDTF">2026-10-14T14:19:50Z</dcterms:modified>
</cp:coreProperties>
</file>